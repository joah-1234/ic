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1" r:id="rId3"/>
    <p:sldId id="267" r:id="rId4"/>
    <p:sldId id="273" r:id="rId5"/>
    <p:sldId id="270" r:id="rId7"/>
    <p:sldId id="275" r:id="rId8"/>
    <p:sldId id="271" r:id="rId9"/>
    <p:sldId id="276" r:id="rId10"/>
    <p:sldId id="277" r:id="rId11"/>
    <p:sldId id="379" r:id="rId12"/>
    <p:sldId id="380" r:id="rId13"/>
    <p:sldId id="272" r:id="rId14"/>
    <p:sldId id="384" r:id="rId15"/>
    <p:sldId id="386" r:id="rId16"/>
    <p:sldId id="38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60478-B912-4B0E-AEF4-AF7A8680F5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11FAC-9B5E-477B-B8EF-C1B9C1DFAF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附：内容页部分可发挥空间非常大，由于信电模板自身有左上角的边框，所以把标题放在右侧会比较好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附：内容页部分可发挥空间非常大，由于信电模板自身有左上角的边框，所以把标题放在右侧会比较好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附：内容页部分可发挥空间非常大，由于信电模板自身有左上角的边框，所以把标题放在右侧会比较好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8CD8D2-E38D-4469-AA06-16C607A747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无边框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7" y="6280150"/>
            <a:ext cx="91106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C:\Documents and Settings\sqz\桌面\图片1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" t="671" r="19285" b="51665"/>
          <a:stretch>
            <a:fillRect/>
          </a:stretch>
        </p:blipFill>
        <p:spPr bwMode="auto">
          <a:xfrm>
            <a:off x="1" y="0"/>
            <a:ext cx="7388352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2719041" y="2778125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2720157" y="3673475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699657" y="3686629"/>
            <a:ext cx="9492343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7610-1444-4A60-86C9-C2A99CF3C0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DA6E0-A380-4805-8A2F-F17D549A07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52812" y="3432611"/>
            <a:ext cx="5286375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指导老师：胡浩基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项目成员：毛广凡 童飞跃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7222" y="4902628"/>
            <a:ext cx="2797561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答辩时间：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2025.12.12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891757" y="4785151"/>
            <a:ext cx="440848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86"/>
          <p:cNvSpPr>
            <a:spLocks noChangeArrowheads="1"/>
          </p:cNvSpPr>
          <p:nvPr/>
        </p:nvSpPr>
        <p:spPr bwMode="auto">
          <a:xfrm>
            <a:off x="3464509" y="1121147"/>
            <a:ext cx="526298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4400" b="1" dirty="0">
                <a:solidFill>
                  <a:srgbClr val="003F8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运用非对称对比学习</a:t>
            </a:r>
            <a:endParaRPr lang="zh-CN" altLang="en-US" sz="4400" b="1" dirty="0">
              <a:solidFill>
                <a:srgbClr val="003F87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4400" b="1" dirty="0">
                <a:solidFill>
                  <a:srgbClr val="003F8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优化人脸反欺骗模型</a:t>
            </a:r>
            <a:endParaRPr lang="zh-CN" altLang="en-US" sz="4400" b="1" dirty="0">
              <a:solidFill>
                <a:srgbClr val="003F87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284783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</a:t>
            </a:r>
            <a:r>
              <a:rPr lang="zh-CN" alt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祝加怿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91757" y="2661076"/>
            <a:ext cx="440848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6344540" y="1438575"/>
            <a:ext cx="4812456" cy="5835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研究过程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>
            <a:off x="5809192" y="2296975"/>
            <a:ext cx="537316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292722" y="1315464"/>
            <a:ext cx="9771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5292722" y="2447489"/>
            <a:ext cx="9771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292722" y="3579514"/>
            <a:ext cx="9771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03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5809192" y="3429000"/>
            <a:ext cx="537316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5809192" y="4561025"/>
            <a:ext cx="552891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isḻïde"/>
          <p:cNvGrpSpPr/>
          <p:nvPr/>
        </p:nvGrpSpPr>
        <p:grpSpPr>
          <a:xfrm>
            <a:off x="429114" y="1319692"/>
            <a:ext cx="3997322" cy="4218616"/>
            <a:chOff x="1235460" y="1166710"/>
            <a:chExt cx="4321824" cy="4561083"/>
          </a:xfrm>
        </p:grpSpPr>
        <p:grpSp>
          <p:nvGrpSpPr>
            <p:cNvPr id="19" name="ïşļïďê"/>
            <p:cNvGrpSpPr/>
            <p:nvPr/>
          </p:nvGrpSpPr>
          <p:grpSpPr>
            <a:xfrm>
              <a:off x="1235460" y="1395379"/>
              <a:ext cx="4246928" cy="4332414"/>
              <a:chOff x="1235460" y="1395379"/>
              <a:chExt cx="4246928" cy="4332414"/>
            </a:xfrm>
          </p:grpSpPr>
          <p:sp>
            <p:nvSpPr>
              <p:cNvPr id="28" name="íSḻíḍé"/>
              <p:cNvSpPr/>
              <p:nvPr/>
            </p:nvSpPr>
            <p:spPr bwMode="auto">
              <a:xfrm>
                <a:off x="1416824" y="1484784"/>
                <a:ext cx="3888432" cy="3888432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rou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íṧļiḍê"/>
              <p:cNvSpPr/>
              <p:nvPr/>
            </p:nvSpPr>
            <p:spPr bwMode="auto">
              <a:xfrm rot="13206116">
                <a:off x="2820860" y="1395379"/>
                <a:ext cx="2661528" cy="1476164"/>
              </a:xfrm>
              <a:prstGeom prst="triangl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îṡḷïďê"/>
              <p:cNvSpPr/>
              <p:nvPr/>
            </p:nvSpPr>
            <p:spPr bwMode="auto">
              <a:xfrm rot="18830594">
                <a:off x="3881287" y="3593598"/>
                <a:ext cx="1712350" cy="1476164"/>
              </a:xfrm>
              <a:prstGeom prst="triangl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îs1îḑé"/>
              <p:cNvSpPr/>
              <p:nvPr/>
            </p:nvSpPr>
            <p:spPr bwMode="auto">
              <a:xfrm rot="5400000">
                <a:off x="709627" y="2169529"/>
                <a:ext cx="2845654" cy="1476164"/>
              </a:xfrm>
              <a:prstGeom prst="triangl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iṧḷíďè"/>
              <p:cNvSpPr/>
              <p:nvPr/>
            </p:nvSpPr>
            <p:spPr bwMode="auto">
              <a:xfrm rot="902836">
                <a:off x="1235460" y="4251629"/>
                <a:ext cx="2845654" cy="1476164"/>
              </a:xfrm>
              <a:prstGeom prst="triangl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cxnSp>
          <p:nvCxnSpPr>
            <p:cNvPr id="20" name="Straight Connector 10"/>
            <p:cNvCxnSpPr/>
            <p:nvPr/>
          </p:nvCxnSpPr>
          <p:spPr>
            <a:xfrm flipV="1">
              <a:off x="4341418" y="1299733"/>
              <a:ext cx="792088" cy="7920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1"/>
            <p:cNvCxnSpPr/>
            <p:nvPr/>
          </p:nvCxnSpPr>
          <p:spPr>
            <a:xfrm flipV="1">
              <a:off x="4765196" y="1166710"/>
              <a:ext cx="792088" cy="7920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12"/>
            <p:cNvCxnSpPr/>
            <p:nvPr/>
          </p:nvCxnSpPr>
          <p:spPr>
            <a:xfrm flipV="1">
              <a:off x="2261188" y="5105350"/>
              <a:ext cx="520676" cy="5206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14"/>
            <p:cNvCxnSpPr/>
            <p:nvPr/>
          </p:nvCxnSpPr>
          <p:spPr>
            <a:xfrm flipV="1">
              <a:off x="1973156" y="5155702"/>
              <a:ext cx="520676" cy="5206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ïŝlïdê"/>
            <p:cNvSpPr/>
            <p:nvPr/>
          </p:nvSpPr>
          <p:spPr bwMode="auto">
            <a:xfrm>
              <a:off x="1927201" y="5611873"/>
              <a:ext cx="114857" cy="114857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ïśḻíďe"/>
            <p:cNvSpPr/>
            <p:nvPr/>
          </p:nvSpPr>
          <p:spPr bwMode="auto">
            <a:xfrm>
              <a:off x="2714922" y="5062532"/>
              <a:ext cx="114857" cy="114857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islïḍe"/>
            <p:cNvSpPr/>
            <p:nvPr/>
          </p:nvSpPr>
          <p:spPr bwMode="auto">
            <a:xfrm>
              <a:off x="4707767" y="1879200"/>
              <a:ext cx="114857" cy="114857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îsḻïḓè"/>
            <p:cNvSpPr/>
            <p:nvPr/>
          </p:nvSpPr>
          <p:spPr bwMode="auto">
            <a:xfrm>
              <a:off x="5070168" y="1244689"/>
              <a:ext cx="114857" cy="114857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6" name="ïṧļiḍé"/>
          <p:cNvSpPr/>
          <p:nvPr/>
        </p:nvSpPr>
        <p:spPr bwMode="auto">
          <a:xfrm>
            <a:off x="863266" y="1880288"/>
            <a:ext cx="3063661" cy="30636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1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zh-CN" altLang="en-US" sz="4000" b="1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br>
            <a:endParaRPr kumimoji="0" lang="zh-CN" altLang="en-US" sz="4000" b="1" i="0" u="none" strike="noStrike" kern="1200" cap="none" spc="3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7" name="íšḷîḓe"/>
          <p:cNvSpPr/>
          <p:nvPr/>
        </p:nvSpPr>
        <p:spPr>
          <a:xfrm>
            <a:off x="1181205" y="3766084"/>
            <a:ext cx="2412389" cy="34160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CONTENT</a:t>
            </a:r>
            <a:endParaRPr kumimoji="0" lang="en-US" altLang="zh-CN" sz="2000" b="0" i="0" u="none" strike="noStrike" kern="1200" cap="none" spc="30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30233" y="2738769"/>
            <a:ext cx="1714330" cy="9488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500" b="1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55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矩形 35"/>
          <p:cNvSpPr/>
          <p:nvPr>
            <p:custDataLst>
              <p:tags r:id="rId8"/>
            </p:custDataLst>
          </p:nvPr>
        </p:nvSpPr>
        <p:spPr>
          <a:xfrm>
            <a:off x="6344540" y="3702625"/>
            <a:ext cx="4812456" cy="58477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阶段性成果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矩形 36"/>
          <p:cNvSpPr/>
          <p:nvPr>
            <p:custDataLst>
              <p:tags r:id="rId9"/>
            </p:custDataLst>
          </p:nvPr>
        </p:nvSpPr>
        <p:spPr>
          <a:xfrm>
            <a:off x="6344540" y="2570600"/>
            <a:ext cx="4812456" cy="5835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阶段性问题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9" y="1305959"/>
            <a:ext cx="12192000" cy="15704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14610" y="180585"/>
            <a:ext cx="3022333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项目综述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9" y="1313944"/>
            <a:ext cx="12192000" cy="156246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794" y="1578820"/>
            <a:ext cx="7674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目前，人脸识别已广泛应用于支付、门禁、远程身份认证等高安全场景。</a:t>
            </a:r>
            <a:endParaRPr lang="zh-CN" altLang="en-US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但与此同时，伪造攻击也在不断升级，如：打印照片、视频重放、屏幕复刻、</a:t>
            </a:r>
            <a:r>
              <a:rPr lang="en-US" altLang="zh-CN" b="1" dirty="0">
                <a:solidFill>
                  <a:schemeClr val="bg1"/>
                </a:solidFill>
              </a:rPr>
              <a:t>3D </a:t>
            </a:r>
            <a:r>
              <a:rPr lang="zh-CN" altLang="en-US" b="1" dirty="0">
                <a:solidFill>
                  <a:schemeClr val="bg1"/>
                </a:solidFill>
              </a:rPr>
              <a:t>面具等多类型威胁。</a:t>
            </a:r>
            <a:endParaRPr lang="zh-CN" altLang="en-US" b="1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624" y="1186033"/>
            <a:ext cx="2676376" cy="347502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4735" y="4180815"/>
            <a:ext cx="3663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人脸反欺骗</a:t>
            </a:r>
            <a:r>
              <a:rPr lang="en-US" altLang="zh-CN" b="1" dirty="0"/>
              <a:t>(FAS)</a:t>
            </a:r>
            <a:r>
              <a:rPr lang="zh-CN" altLang="en-US" b="1" dirty="0"/>
              <a:t>任务目标</a:t>
            </a:r>
            <a:endParaRPr lang="en-US" altLang="zh-CN" b="1" dirty="0"/>
          </a:p>
          <a:p>
            <a:r>
              <a:rPr lang="zh-CN" altLang="en-US" dirty="0"/>
              <a:t>区分“真实活体”与“各种伪造”，保障系统整体安全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6416675" y="4180815"/>
            <a:ext cx="3740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        实施过程难点</a:t>
            </a:r>
            <a:endParaRPr lang="en-US" altLang="zh-CN" b="1" dirty="0"/>
          </a:p>
          <a:p>
            <a:r>
              <a:rPr lang="zh-CN" altLang="en-US" dirty="0"/>
              <a:t>应用环境复杂、攻击手段多样、测试场景与训练场景差异大</a:t>
            </a:r>
            <a:endParaRPr lang="zh-CN" altLang="en-US" dirty="0"/>
          </a:p>
          <a:p>
            <a:endParaRPr lang="zh-CN" altLang="en-US" dirty="0"/>
          </a:p>
        </p:txBody>
      </p: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1616075" y="4092779"/>
            <a:ext cx="2541270" cy="0"/>
          </a:xfrm>
          <a:prstGeom prst="line">
            <a:avLst/>
          </a:prstGeom>
          <a:noFill/>
          <a:ln w="19050" cap="flat" cmpd="sng" algn="ctr">
            <a:solidFill>
              <a:srgbClr val="5B9BD5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7016115" y="4092779"/>
            <a:ext cx="2541270" cy="0"/>
          </a:xfrm>
          <a:prstGeom prst="line">
            <a:avLst/>
          </a:prstGeom>
          <a:noFill/>
          <a:ln w="19050" cap="flat" cmpd="sng" algn="ctr">
            <a:solidFill>
              <a:srgbClr val="5B9BD5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defRPr/>
            </a:pPr>
            <a:r>
              <a:rPr lang="en-US" altLang="zh-CN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01 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项目综述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701800" y="1860692"/>
            <a:ext cx="8646644" cy="2194546"/>
            <a:chOff x="660400" y="1625742"/>
            <a:chExt cx="8646644" cy="2194546"/>
          </a:xfrm>
        </p:grpSpPr>
        <p:cxnSp>
          <p:nvCxnSpPr>
            <p:cNvPr id="5" name="直接连接符 4"/>
            <p:cNvCxnSpPr/>
            <p:nvPr/>
          </p:nvCxnSpPr>
          <p:spPr>
            <a:xfrm flipH="1">
              <a:off x="660400" y="1625742"/>
              <a:ext cx="2011073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660400" y="1698312"/>
              <a:ext cx="201107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60400" y="2294101"/>
              <a:ext cx="1892299" cy="1526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600" dirty="0"/>
                <a:t>传统手工特征（如 </a:t>
              </a:r>
              <a:r>
                <a:rPr lang="en-US" altLang="zh-CN" sz="1600" dirty="0"/>
                <a:t>LBP</a:t>
              </a:r>
              <a:r>
                <a:rPr lang="zh-CN" altLang="en-US" sz="1600" dirty="0"/>
                <a:t>、光流、颜色纹理）对光照、设备和材质敏感</a:t>
              </a:r>
              <a:endParaRPr lang="en-US" altLang="zh-CN" sz="1600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72257" y="1698312"/>
              <a:ext cx="201107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872257" y="2294101"/>
              <a:ext cx="1892299" cy="1526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600" dirty="0"/>
                <a:t>深度学习（</a:t>
              </a:r>
              <a:r>
                <a:rPr lang="en-US" altLang="zh-CN" sz="1600" dirty="0"/>
                <a:t>CNN</a:t>
              </a:r>
              <a:r>
                <a:rPr lang="zh-CN" altLang="en-US" sz="1600" dirty="0"/>
                <a:t>）虽然性能提升，但容易过拟合身份、背景与设备特征</a:t>
              </a:r>
              <a:endParaRPr lang="en-US" altLang="zh-CN" sz="1600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5084114" y="1625742"/>
              <a:ext cx="2011073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5084114" y="1698312"/>
              <a:ext cx="201107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24727" y="2294101"/>
              <a:ext cx="1820573" cy="1526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600" dirty="0"/>
                <a:t>跨数据集（</a:t>
              </a:r>
              <a:r>
                <a:rPr lang="en-US" altLang="zh-CN" sz="1600" dirty="0"/>
                <a:t>Cross-dataset</a:t>
              </a:r>
              <a:r>
                <a:rPr lang="zh-CN" altLang="en-US" sz="1600" dirty="0"/>
                <a:t>）性能下降明显，泛化能力不足</a:t>
              </a:r>
              <a:endParaRPr lang="en-US" altLang="zh-CN" sz="1600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7295971" y="1625742"/>
              <a:ext cx="2011073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7295971" y="1698312"/>
              <a:ext cx="2011073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295971" y="2294101"/>
              <a:ext cx="1820573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600" dirty="0"/>
                <a:t>攻击样本本身高度多样化，使得统一建模难度大</a:t>
              </a:r>
              <a:endParaRPr lang="en-US" altLang="zh-CN" sz="1600" dirty="0"/>
            </a:p>
          </p:txBody>
        </p:sp>
      </p:grpSp>
      <p:cxnSp>
        <p:nvCxnSpPr>
          <p:cNvPr id="20" name="直接连接符 19"/>
          <p:cNvCxnSpPr/>
          <p:nvPr/>
        </p:nvCxnSpPr>
        <p:spPr>
          <a:xfrm flipH="1">
            <a:off x="3913657" y="1860692"/>
            <a:ext cx="2011073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386356" y="926349"/>
            <a:ext cx="48239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 panose="020B0503020204020204" charset="-122"/>
              </a:rPr>
              <a:t>现有方法的不足与挑战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400711" y="4816792"/>
            <a:ext cx="6485989" cy="629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endParaRPr lang="zh-CN" alt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72999" y="4950917"/>
            <a:ext cx="658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关键瓶颈：模型无法稳定捕捉“真正与攻击无关的活体线索”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项目综述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035051" y="1820589"/>
            <a:ext cx="11156949" cy="2611248"/>
            <a:chOff x="1028701" y="2366689"/>
            <a:chExt cx="11156949" cy="2611248"/>
          </a:xfrm>
        </p:grpSpPr>
        <p:grpSp>
          <p:nvGrpSpPr>
            <p:cNvPr id="5" name="组合 4"/>
            <p:cNvGrpSpPr/>
            <p:nvPr/>
          </p:nvGrpSpPr>
          <p:grpSpPr>
            <a:xfrm>
              <a:off x="3815329" y="2366689"/>
              <a:ext cx="4547205" cy="2531022"/>
              <a:chOff x="4132589" y="2163489"/>
              <a:chExt cx="4547205" cy="2531022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6148770" y="2163489"/>
                <a:ext cx="2531024" cy="253102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2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>
                <a:off x="4132589" y="2163489"/>
                <a:ext cx="2531024" cy="2531022"/>
                <a:chOff x="3707851" y="2163489"/>
                <a:chExt cx="2531024" cy="2531022"/>
              </a:xfrm>
            </p:grpSpPr>
            <p:sp>
              <p:nvSpPr>
                <p:cNvPr id="19" name="椭圆 18"/>
                <p:cNvSpPr/>
                <p:nvPr/>
              </p:nvSpPr>
              <p:spPr>
                <a:xfrm>
                  <a:off x="3707851" y="2163489"/>
                  <a:ext cx="2531024" cy="2531022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/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4714859" y="3235124"/>
                  <a:ext cx="517008" cy="387752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8" name="任意多边形: 形状 17"/>
              <p:cNvSpPr/>
              <p:nvPr/>
            </p:nvSpPr>
            <p:spPr>
              <a:xfrm>
                <a:off x="7178456" y="3170496"/>
                <a:ext cx="471652" cy="517008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" name="椭圆 5"/>
            <p:cNvSpPr/>
            <p:nvPr/>
          </p:nvSpPr>
          <p:spPr>
            <a:xfrm>
              <a:off x="3708882" y="3519653"/>
              <a:ext cx="225094" cy="22509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3765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8249987" y="3519653"/>
              <a:ext cx="225094" cy="22509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3765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3799674" y="3609341"/>
              <a:ext cx="53034" cy="4571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8343160" y="3609341"/>
              <a:ext cx="53034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028701" y="2764003"/>
              <a:ext cx="2409324" cy="2213934"/>
              <a:chOff x="1029420" y="2569430"/>
              <a:chExt cx="2409324" cy="2213934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1266986" y="2569430"/>
                <a:ext cx="2171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传统对比学习</a:t>
                </a:r>
                <a:endParaRPr lang="en-US" altLang="zh-CN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029420" y="3061674"/>
                <a:ext cx="2409324" cy="1721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200" dirty="0"/>
                  <a:t>1. </a:t>
                </a:r>
                <a:r>
                  <a:rPr lang="zh-CN" altLang="en-US" sz="1200" dirty="0"/>
                  <a:t>拉近活体特征、推远攻击特征，提高类间可分性</a:t>
                </a:r>
                <a:endParaRPr lang="en-US" altLang="zh-CN" sz="12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dirty="0"/>
                  <a:t>2. </a:t>
                </a:r>
                <a:r>
                  <a:rPr lang="zh-CN" altLang="en-US" sz="1200" dirty="0"/>
                  <a:t>增强特征鲁棒性，减少身份、背景等无关因素干扰</a:t>
                </a:r>
                <a:endParaRPr lang="en-US" altLang="zh-CN" sz="12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dirty="0"/>
                  <a:t>3. </a:t>
                </a:r>
                <a:r>
                  <a:rPr lang="zh-CN" altLang="en-US" sz="1200" dirty="0"/>
                  <a:t>但传统对称对比学习无法处理攻击样本的</a:t>
                </a:r>
                <a:r>
                  <a:rPr lang="zh-CN" altLang="en-US" sz="1200" b="1" dirty="0"/>
                  <a:t>高多样性</a:t>
                </a:r>
                <a:endParaRPr lang="en-US" altLang="zh-CN" sz="12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8489367" y="2764003"/>
              <a:ext cx="3696283" cy="1970531"/>
              <a:chOff x="1041948" y="2569430"/>
              <a:chExt cx="3696283" cy="1970531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280421" y="2569430"/>
                <a:ext cx="2171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Token </a:t>
                </a:r>
                <a:r>
                  <a:rPr lang="zh-CN" altLang="en-US" b="1" dirty="0"/>
                  <a:t>级特征学习</a:t>
                </a:r>
                <a:endParaRPr lang="en-US" altLang="zh-CN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041948" y="3095270"/>
                <a:ext cx="3696283" cy="1444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200" dirty="0"/>
                  <a:t>1. </a:t>
                </a:r>
                <a:r>
                  <a:rPr lang="zh-CN" altLang="en-US" sz="1200" dirty="0"/>
                  <a:t>能精准捕捉</a:t>
                </a:r>
                <a:r>
                  <a:rPr lang="zh-CN" altLang="en-US" sz="1200" b="1" dirty="0"/>
                  <a:t>局部真实活体细节</a:t>
                </a:r>
                <a:endParaRPr lang="en-US" altLang="zh-CN" sz="12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dirty="0"/>
                  <a:t>2. </a:t>
                </a:r>
                <a:r>
                  <a:rPr lang="zh-CN" altLang="en-US" sz="1200" dirty="0"/>
                  <a:t>运用</a:t>
                </a:r>
                <a:r>
                  <a:rPr lang="zh-CN" altLang="en-US" sz="1200" b="1" dirty="0"/>
                  <a:t>非对称对比</a:t>
                </a:r>
                <a:r>
                  <a:rPr lang="zh-CN" altLang="en-US" sz="1200" dirty="0"/>
                  <a:t>机制：</a:t>
                </a:r>
                <a:endParaRPr lang="en-US" altLang="zh-CN" sz="1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/>
                  <a:t>活体样本强聚类（增强类内一致性）</a:t>
                </a:r>
                <a:endParaRPr lang="en-US" altLang="zh-CN" sz="1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/>
                  <a:t>攻击样本分散（保留多样特征，提高未知攻击鲁棒性）</a:t>
                </a:r>
                <a:endParaRPr lang="en-US" altLang="zh-CN" sz="12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dirty="0"/>
                  <a:t>3. </a:t>
                </a:r>
                <a:r>
                  <a:rPr lang="zh-CN" altLang="en-US" sz="1200" dirty="0"/>
                  <a:t>提升跨域</a:t>
                </a:r>
                <a:r>
                  <a:rPr lang="zh-CN" altLang="en-US" sz="1200" b="1" dirty="0"/>
                  <a:t>泛化能力</a:t>
                </a:r>
                <a:r>
                  <a:rPr lang="zh-CN" altLang="en-US" sz="1200" dirty="0"/>
                  <a:t>和应对新型攻击的</a:t>
                </a:r>
                <a:r>
                  <a:rPr lang="zh-CN" altLang="en-US" sz="1200" b="1" dirty="0"/>
                  <a:t>稳定性</a:t>
                </a:r>
                <a:endParaRPr lang="en-US" altLang="zh-CN" sz="1200" b="1" dirty="0"/>
              </a:p>
            </p:txBody>
          </p:sp>
        </p:grp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01 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研究过程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858" y="2514601"/>
            <a:ext cx="8358069" cy="222826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30777" y="130610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整体流程</a:t>
            </a:r>
            <a:endParaRPr lang="zh-CN" altLang="en-US" sz="2400" b="1" dirty="0"/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4688357" y="1767766"/>
            <a:ext cx="2011073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研究过程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895886" y="503750"/>
            <a:ext cx="5806663" cy="5623240"/>
            <a:chOff x="3426236" y="1234505"/>
            <a:chExt cx="5806663" cy="562324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6096000" y="2204465"/>
              <a:ext cx="0" cy="46532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5993130" y="2053335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993130" y="3766311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993130" y="5479287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9" name="对话气泡: 矩形 8"/>
            <p:cNvSpPr/>
            <p:nvPr/>
          </p:nvSpPr>
          <p:spPr>
            <a:xfrm>
              <a:off x="3507106" y="5397491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0" name="对话气泡: 矩形 9"/>
            <p:cNvSpPr/>
            <p:nvPr/>
          </p:nvSpPr>
          <p:spPr>
            <a:xfrm flipH="1" flipV="1">
              <a:off x="6614160" y="3718805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20998" y="1988049"/>
              <a:ext cx="22077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完成数据的标准化清洗与格式转换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26236" y="3494997"/>
              <a:ext cx="2464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使用</a:t>
              </a:r>
              <a:r>
                <a:rPr lang="en-US" altLang="zh-CN" sz="1200" dirty="0"/>
                <a:t> MTCNN </a:t>
              </a:r>
              <a:r>
                <a:rPr lang="zh-CN" altLang="zh-CN" sz="1200" dirty="0"/>
                <a:t>算法进行人脸检测与裁剪，将所有输入图像统一调整为</a:t>
              </a:r>
              <a:r>
                <a:rPr lang="en-US" altLang="zh-CN" sz="1200" dirty="0"/>
                <a:t> 224x224 </a:t>
              </a:r>
              <a:r>
                <a:rPr lang="zh-CN" altLang="zh-CN" sz="1200" dirty="0"/>
                <a:t>像素 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485350" y="5061625"/>
              <a:ext cx="274754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使用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Transformer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架构，必须将图像从像素矩阵转换为序列数据。要求将一张图切分为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16x16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个不重叠的小块（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Patches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），以便模型捕捉局部纹理细节（如纸张边缘、屏幕像素点）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978056" y="2020323"/>
              <a:ext cx="11040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2030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年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月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05850" y="5417541"/>
              <a:ext cx="15691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b="1" dirty="0"/>
                <a:t>Patch </a:t>
              </a:r>
              <a:r>
                <a:rPr lang="zh-CN" altLang="zh-CN" b="1" dirty="0"/>
                <a:t>切分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对话气泡: 矩形 18"/>
            <p:cNvSpPr/>
            <p:nvPr/>
          </p:nvSpPr>
          <p:spPr>
            <a:xfrm>
              <a:off x="3507106" y="1988049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78056" y="2011986"/>
              <a:ext cx="110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模块任务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996209" y="3718805"/>
              <a:ext cx="1487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尺寸归一化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" name="文本占位符 2"/>
            <p:cNvSpPr txBox="1"/>
            <p:nvPr/>
          </p:nvSpPr>
          <p:spPr>
            <a:xfrm>
              <a:off x="3990975" y="1234505"/>
              <a:ext cx="4210050" cy="48013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buNone/>
                <a:defRPr/>
              </a:pPr>
              <a:r>
                <a:rPr lang="zh-CN" altLang="zh-CN" b="1" dirty="0"/>
                <a:t>模块一：输入与预处理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4" name="图片 23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3739" y="2628812"/>
            <a:ext cx="2571429" cy="10095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研究过程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785623" y="778837"/>
            <a:ext cx="5402576" cy="5512260"/>
            <a:chOff x="3360423" y="1345485"/>
            <a:chExt cx="5402576" cy="551226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6096000" y="2204465"/>
              <a:ext cx="0" cy="46532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5993130" y="2053335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993130" y="3766311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993130" y="5479287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9" name="对话气泡: 矩形 8"/>
            <p:cNvSpPr/>
            <p:nvPr/>
          </p:nvSpPr>
          <p:spPr>
            <a:xfrm>
              <a:off x="3507106" y="5397491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0" name="对话气泡: 矩形 9"/>
            <p:cNvSpPr/>
            <p:nvPr/>
          </p:nvSpPr>
          <p:spPr>
            <a:xfrm flipH="1" flipV="1">
              <a:off x="6614160" y="3718805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01132" y="2001788"/>
              <a:ext cx="22077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提取深层语义特征，输出</a:t>
              </a:r>
              <a:r>
                <a:rPr lang="en-US" altLang="zh-CN" sz="1200" dirty="0"/>
                <a:t> Token </a:t>
              </a:r>
              <a:r>
                <a:rPr lang="zh-CN" altLang="zh-CN" sz="1200" dirty="0"/>
                <a:t>级特征序列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60423" y="3766311"/>
              <a:ext cx="22077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载入</a:t>
              </a:r>
              <a:r>
                <a:rPr lang="en-US" altLang="zh-CN" sz="1200" dirty="0"/>
                <a:t> </a:t>
              </a:r>
              <a:r>
                <a:rPr lang="en-US" altLang="zh-CN" sz="1200" dirty="0" err="1"/>
                <a:t>ViT</a:t>
              </a:r>
              <a:r>
                <a:rPr lang="en-US" altLang="zh-CN" sz="1200" dirty="0"/>
                <a:t>-Base </a:t>
              </a:r>
              <a:r>
                <a:rPr lang="zh-CN" altLang="zh-CN" sz="1200" dirty="0"/>
                <a:t>预训练权重作为特征提取器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452421" y="4997381"/>
              <a:ext cx="231057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不同于传统分类任务只取这一个</a:t>
              </a:r>
              <a:r>
                <a:rPr lang="en-US" altLang="zh-CN" sz="1200" dirty="0"/>
                <a:t> [CLS] Token</a:t>
              </a:r>
              <a:r>
                <a:rPr lang="zh-CN" altLang="zh-CN" sz="1200" dirty="0"/>
                <a:t>，本项目的核心要求是保留所有</a:t>
              </a:r>
              <a:r>
                <a:rPr lang="en-US" altLang="zh-CN" sz="1200" dirty="0"/>
                <a:t> Patches </a:t>
              </a:r>
              <a:r>
                <a:rPr lang="zh-CN" altLang="zh-CN" sz="1200" dirty="0"/>
                <a:t>的输出</a:t>
              </a:r>
              <a:r>
                <a:rPr lang="en-US" altLang="zh-CN" sz="1200" dirty="0"/>
                <a:t> Tokens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978056" y="2020323"/>
              <a:ext cx="11040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2030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年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月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78056" y="5428268"/>
              <a:ext cx="110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输出调整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对话气泡: 矩形 18"/>
            <p:cNvSpPr/>
            <p:nvPr/>
          </p:nvSpPr>
          <p:spPr>
            <a:xfrm>
              <a:off x="3507106" y="1988049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78056" y="2011986"/>
              <a:ext cx="110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模块任务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085110" y="3749582"/>
              <a:ext cx="110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模型选型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" name="文本占位符 2"/>
            <p:cNvSpPr txBox="1"/>
            <p:nvPr/>
          </p:nvSpPr>
          <p:spPr>
            <a:xfrm>
              <a:off x="4376621" y="1345485"/>
              <a:ext cx="3644498" cy="48013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buNone/>
                <a:defRPr/>
              </a:pPr>
              <a:r>
                <a:rPr lang="zh-CN" altLang="zh-CN" b="1" dirty="0"/>
                <a:t>模块二：骨干网络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4" name="图片 23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126" y="2704425"/>
            <a:ext cx="2866667" cy="9904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研究过程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384904" y="763416"/>
            <a:ext cx="5854095" cy="5565025"/>
            <a:chOff x="3029352" y="1292720"/>
            <a:chExt cx="5854095" cy="5565025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6096000" y="2204465"/>
              <a:ext cx="0" cy="46532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5993130" y="2053335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993130" y="3766311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993130" y="5479287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9" name="对话气泡: 矩形 8"/>
            <p:cNvSpPr/>
            <p:nvPr/>
          </p:nvSpPr>
          <p:spPr>
            <a:xfrm>
              <a:off x="3507106" y="5397491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0" name="对话气泡: 矩形 9"/>
            <p:cNvSpPr/>
            <p:nvPr/>
          </p:nvSpPr>
          <p:spPr>
            <a:xfrm flipH="1" flipV="1">
              <a:off x="6614160" y="3718805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33290" y="1921787"/>
              <a:ext cx="22077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训练模型在特征空间中“拉近真脸，推远假脸”，解决未知攻击泛化问题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15186" y="3209641"/>
              <a:ext cx="220770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对真脸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： 必须强制聚类。要求计算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Loss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时，让所有真脸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Token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向中心靠拢（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Pull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）。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对假脸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： 不能强制聚类。因为假脸千奇百怪（纸张、面具、屏幕），强制聚类会导致训练失败 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430222" y="5289768"/>
              <a:ext cx="24532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对于假脸，不能取平均值。要求实现 全局最大池化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(Global Max Pooling, GMP)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978056" y="2020323"/>
              <a:ext cx="11040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2030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年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月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78056" y="5428268"/>
              <a:ext cx="14382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b="1" dirty="0"/>
                <a:t>GMP </a:t>
              </a:r>
              <a:r>
                <a:rPr lang="zh-CN" altLang="zh-CN" b="1" dirty="0"/>
                <a:t>聚合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对话气泡: 矩形 18"/>
            <p:cNvSpPr/>
            <p:nvPr/>
          </p:nvSpPr>
          <p:spPr>
            <a:xfrm>
              <a:off x="3507106" y="1988049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78056" y="2011986"/>
              <a:ext cx="110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模块任务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951760" y="3718805"/>
              <a:ext cx="15750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非对称处理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" name="文本占位符 2"/>
            <p:cNvSpPr txBox="1"/>
            <p:nvPr/>
          </p:nvSpPr>
          <p:spPr>
            <a:xfrm>
              <a:off x="3029352" y="1292720"/>
              <a:ext cx="5809646" cy="48013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buNone/>
                <a:defRPr/>
              </a:pPr>
              <a:r>
                <a:rPr lang="zh-CN" altLang="zh-CN" b="1" dirty="0"/>
                <a:t>模块三：非对称对比学习模块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4" name="图片 23" descr="图表, 气泡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449" y="2703785"/>
            <a:ext cx="3905161" cy="1272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14610" y="180585"/>
            <a:ext cx="30223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研究过程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664736" y="815632"/>
            <a:ext cx="5370868" cy="5535779"/>
            <a:chOff x="3370131" y="1321966"/>
            <a:chExt cx="5370868" cy="5535779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6096000" y="2204465"/>
              <a:ext cx="0" cy="46532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5993130" y="2053335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993130" y="3766311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993130" y="5479287"/>
              <a:ext cx="205740" cy="2057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9" name="对话气泡: 矩形 8"/>
            <p:cNvSpPr/>
            <p:nvPr/>
          </p:nvSpPr>
          <p:spPr>
            <a:xfrm>
              <a:off x="3507106" y="5397491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0" name="对话气泡: 矩形 9"/>
            <p:cNvSpPr/>
            <p:nvPr/>
          </p:nvSpPr>
          <p:spPr>
            <a:xfrm flipH="1" flipV="1">
              <a:off x="6614160" y="3718805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20999" y="2053335"/>
              <a:ext cx="22077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基于提取的特征进行最终的真</a:t>
              </a:r>
              <a:r>
                <a:rPr lang="en-US" altLang="zh-CN" sz="1200" dirty="0"/>
                <a:t>/</a:t>
              </a:r>
              <a:r>
                <a:rPr lang="zh-CN" altLang="zh-CN" sz="1200" dirty="0"/>
                <a:t>假二分类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70131" y="3607775"/>
              <a:ext cx="22077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sz="1200" dirty="0"/>
                <a:t>在分类分支，使用 全局平均池化</a:t>
              </a:r>
              <a:r>
                <a:rPr lang="en-US" altLang="zh-CN" sz="1200" dirty="0"/>
                <a:t> (GAP) </a:t>
              </a:r>
              <a:r>
                <a:rPr lang="zh-CN" altLang="zh-CN" sz="1200" dirty="0"/>
                <a:t>综合整张图的信息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33290" y="5269528"/>
              <a:ext cx="220770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不使用普通的 </a:t>
              </a: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Softmax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，而是实现 </a:t>
              </a: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ArcFace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Loss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。要求在真假分类边界中加入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m=0.5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的角度间隔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978056" y="2020323"/>
              <a:ext cx="11040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2030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年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月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799193" y="5397491"/>
              <a:ext cx="17479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引入</a:t>
              </a:r>
              <a:r>
                <a:rPr lang="en-US" altLang="zh-CN" b="1" dirty="0"/>
                <a:t> Margin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对话气泡: 矩形 18"/>
            <p:cNvSpPr/>
            <p:nvPr/>
          </p:nvSpPr>
          <p:spPr>
            <a:xfrm>
              <a:off x="3507106" y="1988049"/>
              <a:ext cx="2045970" cy="369332"/>
            </a:xfrm>
            <a:prstGeom prst="wedgeRectCallout">
              <a:avLst>
                <a:gd name="adj1" fmla="val 52668"/>
                <a:gd name="adj2" fmla="val 75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78056" y="2011986"/>
              <a:ext cx="110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zh-CN" b="1" dirty="0"/>
                <a:t>模块任务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085109" y="3749582"/>
              <a:ext cx="13449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b="1" dirty="0"/>
                <a:t>GAP </a:t>
              </a:r>
              <a:r>
                <a:rPr lang="zh-CN" altLang="zh-CN" b="1" dirty="0"/>
                <a:t>聚合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" name="文本占位符 2"/>
            <p:cNvSpPr txBox="1"/>
            <p:nvPr/>
          </p:nvSpPr>
          <p:spPr>
            <a:xfrm>
              <a:off x="4405086" y="1321966"/>
              <a:ext cx="3381828" cy="48013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buNone/>
                <a:defRPr/>
              </a:pPr>
              <a:r>
                <a:rPr lang="zh-CN" altLang="zh-CN" b="1" dirty="0"/>
                <a:t>模块四：分类模块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4" name="图片 23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1" y="3076606"/>
            <a:ext cx="4069178" cy="7782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63810" y="186935"/>
            <a:ext cx="3450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02 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阶段性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问题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5720" y="5676900"/>
            <a:ext cx="7682865" cy="1094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defRPr/>
            </a:pPr>
            <a:r>
              <a:rPr lang="zh-CN" altLang="zh-CN" b="1" dirty="0"/>
              <a:t>使用数据集：</a:t>
            </a:r>
            <a:endParaRPr lang="zh-CN" altLang="zh-CN" b="1" dirty="0"/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defRPr/>
            </a:pPr>
            <a:r>
              <a:rPr lang="zh-CN" altLang="zh-CN" dirty="0"/>
              <a:t>replayattack oulu-npu MSU-MFSD CASIA-MFSD</a:t>
            </a:r>
            <a:endParaRPr lang="zh-CN" altLang="zh-CN" dirty="0"/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defRPr/>
            </a:pPr>
            <a:r>
              <a:rPr lang="zh-CN" altLang="en-US"/>
              <a:t>其中前三个数据集用于训练；第四个数据集用于测试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0750" y="248285"/>
            <a:ext cx="2781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800" b="1" dirty="0"/>
              <a:t>第一次模型演练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" y="989330"/>
            <a:ext cx="5306060" cy="42456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09640" y="1281430"/>
            <a:ext cx="481965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存在问题：</a:t>
            </a:r>
            <a:endParaRPr lang="zh-CN" altLang="en-US" sz="2000" b="1"/>
          </a:p>
          <a:p>
            <a:pPr indent="457200"/>
            <a:r>
              <a:rPr lang="zh-CN" altLang="en-US" sz="2000"/>
              <a:t>训练效果不聚类；在图上体现为散乱混杂，无法分类聚类</a:t>
            </a:r>
            <a:endParaRPr lang="zh-CN" altLang="en-US" sz="2000" b="1"/>
          </a:p>
          <a:p>
            <a:pPr marL="0" lvl="0" indent="0">
              <a:buNone/>
            </a:pPr>
            <a:endParaRPr lang="zh-CN" altLang="en-US" sz="2000" b="1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问题原因：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 sz="2000">
                <a:solidFill>
                  <a:schemeClr val="tx1"/>
                </a:solidFill>
              </a:rPr>
              <a:t>使用的数据集数据没有处理好，被污染了</a:t>
            </a:r>
            <a:br>
              <a:rPr lang="zh-CN" altLang="en-US" sz="2000">
                <a:solidFill>
                  <a:schemeClr val="tx1"/>
                </a:solidFill>
              </a:rPr>
            </a:br>
            <a:endParaRPr lang="zh-CN" altLang="en-US" sz="200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解决方案：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 sz="2000">
                <a:solidFill>
                  <a:schemeClr val="tx1"/>
                </a:solidFill>
              </a:rPr>
              <a:t>把人脸深度图移除数据集重新进行</a:t>
            </a:r>
            <a:r>
              <a:rPr lang="zh-CN" altLang="en-US" sz="2000">
                <a:solidFill>
                  <a:schemeClr val="tx1"/>
                </a:solidFill>
              </a:rPr>
              <a:t>聚类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63810" y="186935"/>
            <a:ext cx="3450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02 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阶段性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问题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0" y="5612765"/>
            <a:ext cx="7682865" cy="1094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defRPr/>
            </a:pPr>
            <a:r>
              <a:rPr lang="zh-CN" altLang="zh-CN" b="1" dirty="0">
                <a:sym typeface="+mn-ea"/>
              </a:rPr>
              <a:t>使用数据集：</a:t>
            </a:r>
            <a:endParaRPr lang="zh-CN" altLang="zh-CN" b="1" dirty="0"/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defRPr/>
            </a:pPr>
            <a:r>
              <a:rPr lang="zh-CN" altLang="zh-CN" dirty="0">
                <a:sym typeface="+mn-ea"/>
              </a:rPr>
              <a:t>replayattack oulu-npu MSU-MFSD CASIA-MFSD</a:t>
            </a:r>
            <a:endParaRPr lang="zh-CN" altLang="zh-CN" dirty="0"/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defRPr/>
            </a:pPr>
            <a:r>
              <a:rPr lang="zh-CN" altLang="en-US">
                <a:sym typeface="+mn-ea"/>
              </a:rPr>
              <a:t>其中前三个数据集用于训练；第四个数据集用于测试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920750" y="248285"/>
            <a:ext cx="2781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800" b="1" dirty="0"/>
              <a:t>后续模型演练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09640" y="1281430"/>
            <a:ext cx="481965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存在问题：</a:t>
            </a:r>
            <a:endParaRPr lang="zh-CN" altLang="en-US" sz="2000" b="1"/>
          </a:p>
          <a:p>
            <a:pPr indent="457200"/>
            <a:r>
              <a:rPr lang="zh-CN" altLang="en-US" sz="2000"/>
              <a:t>训练效果初步聚类；在图上体现为</a:t>
            </a:r>
            <a:r>
              <a:rPr lang="zh-CN" altLang="en-US" sz="2000"/>
              <a:t>较为散乱混杂，无法</a:t>
            </a:r>
            <a:r>
              <a:rPr lang="zh-CN" altLang="en-US" sz="2000"/>
              <a:t>高效</a:t>
            </a:r>
            <a:r>
              <a:rPr lang="zh-CN" altLang="en-US" sz="2000"/>
              <a:t>的分类聚类</a:t>
            </a:r>
            <a:endParaRPr lang="zh-CN" altLang="en-US" sz="2000"/>
          </a:p>
          <a:p>
            <a:pPr marL="0" lvl="0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问题原因：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 sz="2000">
                <a:solidFill>
                  <a:schemeClr val="tx1"/>
                </a:solidFill>
              </a:rPr>
              <a:t>代码中的部分参数不适配该数据集，需要进一步修改代码参数</a:t>
            </a:r>
            <a:br>
              <a:rPr lang="zh-CN" altLang="en-US" sz="2000">
                <a:solidFill>
                  <a:schemeClr val="tx1"/>
                </a:solidFill>
              </a:rPr>
            </a:br>
            <a:endParaRPr lang="zh-CN" altLang="en-US" sz="200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解决方案：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 sz="2000">
                <a:solidFill>
                  <a:schemeClr val="tx1"/>
                </a:solidFill>
              </a:rPr>
              <a:t>将代码参数进行修改后观察后续分类聚类</a:t>
            </a:r>
            <a:r>
              <a:rPr lang="zh-CN" altLang="en-US" sz="2000">
                <a:solidFill>
                  <a:schemeClr val="tx1"/>
                </a:solidFill>
              </a:rPr>
              <a:t>效果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987425"/>
            <a:ext cx="5194935" cy="41567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63810" y="186935"/>
            <a:ext cx="3450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03 </a:t>
            </a:r>
            <a:r>
              <a:rPr lang="zh-CN" altLang="en-US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阶段性成果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14610" y="914399"/>
            <a:ext cx="30223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914400"/>
            <a:ext cx="2992120" cy="2393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435" y="914400"/>
            <a:ext cx="2914015" cy="23317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640" y="894715"/>
            <a:ext cx="3016250" cy="24136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4245" y="248920"/>
            <a:ext cx="28346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sz="2800" b="1" dirty="0">
                <a:sym typeface="+mn-ea"/>
              </a:rPr>
              <a:t>中期模型演练</a:t>
            </a:r>
            <a:endParaRPr lang="zh-CN" altLang="zh-CN" sz="2800" b="1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740140" y="1255395"/>
            <a:ext cx="3097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初步可以将图像进行分类聚类，分类得到图像不</a:t>
            </a:r>
            <a:r>
              <a:rPr lang="zh-CN" altLang="en-US"/>
              <a:t>离散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8800" y="3389630"/>
            <a:ext cx="58585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==================================================</a:t>
            </a:r>
            <a:endParaRPr lang="en-US" altLang="zh-CN" sz="1200"/>
          </a:p>
          <a:p>
            <a:r>
              <a:rPr lang="en-US" altLang="zh-CN" sz="1200"/>
              <a:t>   </a:t>
            </a:r>
            <a:r>
              <a:rPr lang="zh-CN" altLang="en-US" sz="1200"/>
              <a:t>跨域测试结果</a:t>
            </a:r>
            <a:r>
              <a:rPr lang="en-US" altLang="zh-CN" sz="1200"/>
              <a:t> (Protocol: OCI_to_M)   </a:t>
            </a:r>
            <a:endParaRPr lang="en-US" altLang="zh-CN" sz="1200"/>
          </a:p>
          <a:p>
            <a:r>
              <a:rPr lang="en-US" altLang="zh-CN" sz="1200"/>
              <a:t>==================================================</a:t>
            </a:r>
            <a:endParaRPr lang="en-US" altLang="zh-CN" sz="1200"/>
          </a:p>
          <a:p>
            <a:r>
              <a:rPr lang="zh-CN" altLang="en-US" sz="1200"/>
              <a:t>测试目标域</a:t>
            </a:r>
            <a:r>
              <a:rPr lang="en-US" altLang="zh-CN" sz="1200"/>
              <a:t>: MSU-MFSD</a:t>
            </a:r>
            <a:endParaRPr lang="en-US" altLang="zh-CN" sz="1200"/>
          </a:p>
          <a:p>
            <a:r>
              <a:rPr lang="zh-CN" altLang="en-US" sz="1200"/>
              <a:t>样本统计</a:t>
            </a:r>
            <a:r>
              <a:rPr lang="en-US" altLang="zh-CN" sz="1200"/>
              <a:t>  : Total=4019, Live=1053, Spoof=2966</a:t>
            </a:r>
            <a:endParaRPr lang="en-US" altLang="zh-CN" sz="1200"/>
          </a:p>
          <a:p>
            <a:r>
              <a:rPr lang="en-US" altLang="zh-CN" sz="1200"/>
              <a:t>--------------------------------------------------</a:t>
            </a:r>
            <a:endParaRPr lang="en-US" altLang="zh-CN" sz="1200"/>
          </a:p>
          <a:p>
            <a:r>
              <a:rPr lang="en-US" altLang="zh-CN" sz="1200"/>
              <a:t>AUC  (Area Under Curve) : 0.9403</a:t>
            </a:r>
            <a:endParaRPr lang="en-US" altLang="zh-CN" sz="1200"/>
          </a:p>
          <a:p>
            <a:r>
              <a:rPr lang="en-US" altLang="zh-CN" sz="1200"/>
              <a:t>EER  (Equal Error Rate) : 0.1301</a:t>
            </a:r>
            <a:endParaRPr lang="en-US" altLang="zh-CN" sz="1200"/>
          </a:p>
          <a:p>
            <a:r>
              <a:rPr lang="en-US" altLang="zh-CN" sz="1200"/>
              <a:t>HTER (Half Total Error) : 0.1303 (at threshold 0.9879)</a:t>
            </a:r>
            <a:endParaRPr lang="en-US" altLang="zh-CN" sz="1200"/>
          </a:p>
          <a:p>
            <a:r>
              <a:rPr lang="en-US" altLang="zh-CN" sz="1200"/>
              <a:t>==================================================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6785610" y="3389630"/>
            <a:ext cx="45173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阶段性结论：</a:t>
            </a:r>
            <a:br>
              <a:rPr lang="zh-CN" altLang="en-US"/>
            </a:br>
            <a:r>
              <a:rPr lang="zh-CN" altLang="en-US"/>
              <a:t>我们成功搭建了完整的</a:t>
            </a:r>
            <a:r>
              <a:rPr lang="en-US" altLang="zh-CN"/>
              <a:t> TACL </a:t>
            </a:r>
            <a:r>
              <a:rPr lang="zh-CN" altLang="en-US"/>
              <a:t>训练与测试框架，实现了以下关键模块：</a:t>
            </a:r>
            <a:br>
              <a:rPr lang="zh-CN" altLang="en-US"/>
            </a:br>
            <a:r>
              <a:rPr lang="en-US" altLang="zh-CN"/>
              <a:t>1.</a:t>
            </a:r>
            <a:r>
              <a:rPr lang="zh-CN" altLang="en-US"/>
              <a:t>数据清洗与标准化</a:t>
            </a:r>
            <a:br>
              <a:rPr lang="zh-CN" altLang="en-US"/>
            </a:br>
            <a:r>
              <a:rPr lang="en-US" altLang="zh-CN"/>
              <a:t>2.</a:t>
            </a:r>
            <a:r>
              <a:rPr lang="zh-CN" altLang="en-US"/>
              <a:t>实现了</a:t>
            </a:r>
            <a:r>
              <a:rPr lang="en-US" altLang="zh-CN"/>
              <a:t> TACLoss</a:t>
            </a:r>
            <a:r>
              <a:rPr lang="zh-CN" altLang="en-US"/>
              <a:t>：仅对</a:t>
            </a:r>
            <a:r>
              <a:rPr lang="en-US" altLang="zh-CN"/>
              <a:t> Live-Live </a:t>
            </a:r>
            <a:r>
              <a:rPr lang="zh-CN" altLang="en-US"/>
              <a:t>正样本对进行拉近，对</a:t>
            </a:r>
            <a:r>
              <a:rPr lang="en-US" altLang="zh-CN"/>
              <a:t> Live-Spoof </a:t>
            </a:r>
            <a:r>
              <a:rPr lang="zh-CN" altLang="en-US"/>
              <a:t>进行推开，并移除了传统对比学习中对</a:t>
            </a:r>
            <a:r>
              <a:rPr lang="en-US" altLang="zh-CN"/>
              <a:t> Spoof-Spoof </a:t>
            </a:r>
            <a:r>
              <a:rPr lang="zh-CN" altLang="en-US"/>
              <a:t>的聚类约束</a:t>
            </a:r>
            <a:endParaRPr lang="zh-CN" altLang="en-US"/>
          </a:p>
          <a:p>
            <a:r>
              <a:rPr lang="en-US" altLang="zh-CN"/>
              <a:t>3.ViT </a:t>
            </a:r>
            <a:r>
              <a:rPr lang="zh-CN" altLang="en-US"/>
              <a:t>特征提取与双视图增强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52813" y="4108886"/>
            <a:ext cx="5286375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项目成员：祝加怿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毛广凡 童飞跃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41342" y="4902628"/>
            <a:ext cx="2797561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答辩时间：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2025.12.12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891757" y="4785151"/>
            <a:ext cx="440848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86"/>
          <p:cNvSpPr>
            <a:spLocks noChangeArrowheads="1"/>
          </p:cNvSpPr>
          <p:nvPr/>
        </p:nvSpPr>
        <p:spPr bwMode="auto">
          <a:xfrm>
            <a:off x="1203960" y="2351142"/>
            <a:ext cx="978408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5400" b="1" dirty="0">
                <a:solidFill>
                  <a:srgbClr val="003F8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感谢聆听，请各位老师批评指正</a:t>
            </a:r>
            <a:endParaRPr lang="zh-CN" altLang="en-US" sz="5400" b="1" dirty="0">
              <a:solidFill>
                <a:srgbClr val="003F87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2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3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4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5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6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7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8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9.xml><?xml version="1.0" encoding="utf-8"?>
<p:tagLst xmlns:p="http://schemas.openxmlformats.org/presentationml/2006/main">
  <p:tag name="KSO_WM_DIAGRAM_VIRTUALLY_FRAME" val="{&quot;height&quot;:255.55598425196848,&quot;left&quot;:416.74976377952754,&quot;top&quot;:103.57984251968503,&quot;width&quot;:476.01448818897643}"/>
</p:tagLst>
</file>

<file path=ppt/tags/tag10.xml><?xml version="1.0" encoding="utf-8"?>
<p:tagLst xmlns:p="http://schemas.openxmlformats.org/presentationml/2006/main">
  <p:tag name="KSO_WM_DIAGRAM_VIRTUALLY_FRAME" val="{&quot;height&quot;:175.35,&quot;left&quot;:24.8,&quot;top&quot;:265.1,&quot;width&quot;:829.9}"/>
</p:tagLst>
</file>

<file path=ppt/tags/tag11.xml><?xml version="1.0" encoding="utf-8"?>
<p:tagLst xmlns:p="http://schemas.openxmlformats.org/presentationml/2006/main">
  <p:tag name="KSO_WM_DIAGRAM_VIRTUALLY_FRAME" val="{&quot;height&quot;:175.35,&quot;left&quot;:24.8,&quot;top&quot;:265.1,&quot;width&quot;:829.9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全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2309</Words>
  <Application>WPS 演示</Application>
  <PresentationFormat>宽屏</PresentationFormat>
  <Paragraphs>217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Calibri</vt:lpstr>
      <vt:lpstr>Arial</vt:lpstr>
      <vt:lpstr>等线</vt:lpstr>
      <vt:lpstr>微软雅黑 Light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Duc Minh</dc:creator>
  <cp:lastModifiedBy>毛广凡</cp:lastModifiedBy>
  <cp:revision>10</cp:revision>
  <dcterms:created xsi:type="dcterms:W3CDTF">2025-12-10T08:40:00Z</dcterms:created>
  <dcterms:modified xsi:type="dcterms:W3CDTF">2025-12-11T14:00:24Z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80988583BDF543B3BB9D914ED29129CD_12</vt:lpwstr>
  </property>
  <property fmtid="{D5CDD505-2E9C-101B-9397-08002B2CF9AE}" pid="3" name="KSOProductBuildVer">
    <vt:lpwstr>2052-12.1.0.23542</vt:lpwstr>
  </property>
</Properties>
</file>